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IR (红外)</c:v>
                  </c:pt>
                  <c:pt idx="1">
                    <c:v>VI (可见光)</c:v>
                  </c:pt>
                  <c:pt idx="2">
                    <c:v>FusionMamba</c:v>
                  </c:pt>
                  <c:pt idx="3">
                    <c:v>ITFuse</c:v>
                  </c:pt>
                  <c:pt idx="4">
                    <c:v>MAEFuse</c:v>
                  </c:pt>
                  <c:pt idx="5">
                    <c:v>SFDFuse</c:v>
                  </c:pt>
                  <c:pt idx="6">
                    <c:v>LAMF (本文)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31.34</c:v>
                </c:pt>
                <c:pt idx="1">
                  <c:v>42.48</c:v>
                </c:pt>
                <c:pt idx="2">
                  <c:v>41.44</c:v>
                </c:pt>
                <c:pt idx="3">
                  <c:v>41.43</c:v>
                </c:pt>
                <c:pt idx="4">
                  <c:v>39.24</c:v>
                </c:pt>
                <c:pt idx="5">
                  <c:v>40.59</c:v>
                </c:pt>
                <c:pt idx="6">
                  <c:v>41.42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mAP@0.5:0.95 (%)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IR (红外)</c:v>
                  </c:pt>
                  <c:pt idx="1">
                    <c:v>VI (可见光)</c:v>
                  </c:pt>
                  <c:pt idx="2">
                    <c:v>FusionMamba</c:v>
                  </c:pt>
                  <c:pt idx="3">
                    <c:v>ITFuse</c:v>
                  </c:pt>
                  <c:pt idx="4">
                    <c:v>MAEFuse</c:v>
                  </c:pt>
                  <c:pt idx="5">
                    <c:v>SFDFuse</c:v>
                  </c:pt>
                  <c:pt idx="6">
                    <c:v>LAMF (本文)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18.84</c:v>
                </c:pt>
                <c:pt idx="1">
                  <c:v>27.29</c:v>
                </c:pt>
                <c:pt idx="2">
                  <c:v>26.72</c:v>
                </c:pt>
                <c:pt idx="3">
                  <c:v>27.24</c:v>
                </c:pt>
                <c:pt idx="4">
                  <c:v>24.85</c:v>
                </c:pt>
                <c:pt idx="5">
                  <c:v>26.11</c:v>
                </c:pt>
                <c:pt idx="6">
                  <c:v>26.31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 (红外)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行人 (People)</c:v>
                  </c:pt>
                  <c:pt idx="1">
                    <c:v>两轮车 (Motorcycle)</c:v>
                  </c:pt>
                  <c:pt idx="2">
                    <c:v>汽车 (Car)</c:v>
                  </c:pt>
                  <c:pt idx="3">
                    <c:v>卡车 (Truck)</c:v>
                  </c:pt>
                  <c:pt idx="4">
                    <c:v>公交车 (Bus)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51.85</c:v>
                </c:pt>
                <c:pt idx="1">
                  <c:v>15.85</c:v>
                </c:pt>
                <c:pt idx="2">
                  <c:v>57.22</c:v>
                </c:pt>
                <c:pt idx="3">
                  <c:v>7.25</c:v>
                </c:pt>
                <c:pt idx="4">
                  <c:v>24.54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 (可见光)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行人 (People)</c:v>
                  </c:pt>
                  <c:pt idx="1">
                    <c:v>两轮车 (Motorcycle)</c:v>
                  </c:pt>
                  <c:pt idx="2">
                    <c:v>汽车 (Car)</c:v>
                  </c:pt>
                  <c:pt idx="3">
                    <c:v>卡车 (Truck)</c:v>
                  </c:pt>
                  <c:pt idx="4">
                    <c:v>公交车 (Bus)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40.63</c:v>
                </c:pt>
                <c:pt idx="1">
                  <c:v>23.04</c:v>
                </c:pt>
                <c:pt idx="2">
                  <c:v>70.18</c:v>
                </c:pt>
                <c:pt idx="3">
                  <c:v>24.44</c:v>
                </c:pt>
                <c:pt idx="4">
                  <c:v>54.09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SFDFuse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行人 (People)</c:v>
                  </c:pt>
                  <c:pt idx="1">
                    <c:v>两轮车 (Motorcycle)</c:v>
                  </c:pt>
                  <c:pt idx="2">
                    <c:v>汽车 (Car)</c:v>
                  </c:pt>
                  <c:pt idx="3">
                    <c:v>卡车 (Truck)</c:v>
                  </c:pt>
                  <c:pt idx="4">
                    <c:v>公交车 (Bus)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56.02</c:v>
                </c:pt>
                <c:pt idx="1">
                  <c:v>23.39</c:v>
                </c:pt>
                <c:pt idx="2">
                  <c:v>71.24</c:v>
                </c:pt>
                <c:pt idx="3">
                  <c:v>19.11</c:v>
                </c:pt>
                <c:pt idx="4">
                  <c:v>33.18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LAMF (本文方法)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行人 (People)</c:v>
                  </c:pt>
                  <c:pt idx="1">
                    <c:v>两轮车 (Motorcycle)</c:v>
                  </c:pt>
                  <c:pt idx="2">
                    <c:v>汽车 (Car)</c:v>
                  </c:pt>
                  <c:pt idx="3">
                    <c:v>卡车 (Truck)</c:v>
                  </c:pt>
                  <c:pt idx="4">
                    <c:v>公交车 (Bus)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56.54</c:v>
                </c:pt>
                <c:pt idx="1">
                  <c:v>27.64</c:v>
                </c:pt>
                <c:pt idx="2">
                  <c:v>70.4</c:v>
                </c:pt>
                <c:pt idx="3">
                  <c:v>17.83</c:v>
                </c:pt>
                <c:pt idx="4">
                  <c:v>34.69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检出行人数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VI (可见光)</c:v>
                  </c:pt>
                  <c:pt idx="1">
                    <c:v>IR (红外)</c:v>
                  </c:pt>
                  <c:pt idx="2">
                    <c:v>MAEFuse</c:v>
                  </c:pt>
                  <c:pt idx="3">
                    <c:v>ITFuse</c:v>
                  </c:pt>
                  <c:pt idx="4">
                    <c:v>FusionMamba</c:v>
                  </c:pt>
                  <c:pt idx="5">
                    <c:v>SFDFuse</c:v>
                  </c:pt>
                  <c:pt idx="6">
                    <c:v>LAMF (Ours)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403</c:v>
                </c:pt>
                <c:pt idx="1">
                  <c:v>536</c:v>
                </c:pt>
                <c:pt idx="2">
                  <c:v>530</c:v>
                </c:pt>
                <c:pt idx="3">
                  <c:v>548</c:v>
                </c:pt>
                <c:pt idx="4">
                  <c:v>568</c:v>
                </c:pt>
                <c:pt idx="5">
                  <c:v>582</c:v>
                </c:pt>
                <c:pt idx="6">
                  <c:v>587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AP50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IR (红外)</c:v>
                  </c:pt>
                  <c:pt idx="1">
                    <c:v>VI (可见光)</c:v>
                  </c:pt>
                  <c:pt idx="2">
                    <c:v>ITFuse</c:v>
                  </c:pt>
                  <c:pt idx="3">
                    <c:v>SFDFuse</c:v>
                  </c:pt>
                  <c:pt idx="4">
                    <c:v>MAEFuse</c:v>
                  </c:pt>
                  <c:pt idx="5">
                    <c:v>FusionMamba</c:v>
                  </c:pt>
                  <c:pt idx="6">
                    <c:v>LAMF (Ours)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15.85</c:v>
                </c:pt>
                <c:pt idx="1">
                  <c:v>23.04</c:v>
                </c:pt>
                <c:pt idx="2">
                  <c:v>23.27</c:v>
                </c:pt>
                <c:pt idx="3">
                  <c:v>23.39</c:v>
                </c:pt>
                <c:pt idx="4">
                  <c:v>24.31</c:v>
                </c:pt>
                <c:pt idx="5">
                  <c:v>26.39</c:v>
                </c:pt>
                <c:pt idx="6">
                  <c:v>27.64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LAMF 优势得分 (Advantage Score)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00112 (夜市)</c:v>
                  </c:pt>
                  <c:pt idx="1">
                    <c:v>00388 (暗路)</c:v>
                  </c:pt>
                  <c:pt idx="2">
                    <c:v>01267 (远距)</c:v>
                  </c:pt>
                  <c:pt idx="3">
                    <c:v>00071 (路口)</c:v>
                  </c:pt>
                  <c:pt idx="4">
                    <c:v>00149 (交叉)</c:v>
                  </c:pt>
                  <c:pt idx="5">
                    <c:v>00025 (人车)</c:v>
                  </c:pt>
                  <c:pt idx="6">
                    <c:v>00441 (弱光)</c:v>
                  </c:pt>
                  <c:pt idx="7">
                    <c:v>00210 (阴影)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19.55</c:v>
                </c:pt>
                <c:pt idx="1">
                  <c:v>11.02</c:v>
                </c:pt>
                <c:pt idx="2">
                  <c:v>10.82</c:v>
                </c:pt>
                <c:pt idx="3">
                  <c:v>10.44</c:v>
                </c:pt>
                <c:pt idx="4">
                  <c:v>9.57</c:v>
                </c:pt>
                <c:pt idx="5">
                  <c:v>9.57</c:v>
                </c:pt>
                <c:pt idx="6">
                  <c:v>9.13</c:v>
                </c:pt>
                <c:pt idx="7">
                  <c:v>9.07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F17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【开场导言】：各位老师好，本次汇报为 V2 视觉图表版，我们将主要依靠客观数据图表与实测可视化案例，直观展示 LAMF 融合算法在下游目标检测中的核心性能与优势。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【本页说明】：我们建立了一套科学、公平的同口径评测矩阵。左侧是评测基准与 7 套对比方法，底部是统一的下游目标检测验证管线，保证所有结果真实客观。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【要点说明】：左侧柱状图非常直观地展现了 7 种方法的整体精度。LAMF 在 mAP 达到 41.42%，相比红外单模态暴涨 10% 以上，稳居 SOTA 第一梯队。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【要点说明】：看这个多类别对比图：红色柱子是我们 LAMF。在行人上，可见光（灰色柱子）只有40.63%，LAMF 冲到了56.54%；在两轮摩托车上，红色柱子更是全场最高（27.64%），优势一目了然。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【要点说明】：这页专门针对弱势交通参与者。左右各放一张直接的柱状图：左边行人检出量，LAMF 587人独占鳌头；右边摩托车 AP50，LAMF 27.64% 同样最高，直接击破痛点。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【要点说明】：左图直接展示了论文级别的柱状图对比：(a) 图里红色的 LAMF 行人检出最高；(b) 图里 LAMF 的 Recall 达到 91.1%，F1 达到 83.9%，各项指标均衡领先。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【要点说明】：大家请看左侧高清大图。在夜间闹市，单模态红外只能看到发热体、看不见车；可见光在阴影里大量漏人。LAMF 检出了 17 个目标，比任何单一模态都翻了一倍，人车全部准确定位。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【要点说明】：这页是极端挑战场景的双图对比：左图在完全无光的夜间，可见光只检出2个目标，LAMF 挽救了10位隐藏在黑暗中的行人；右图远距离弱小目标，可见光为零，LAMF 依然稳定检出4个。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【要点说明】：我们对 300 张图计算了优势得分排序，左图是排名前 8 的样本。数据表明，LAMF 的优势是系统性的、大面积的，尤其在极端复杂工况下表现极其稳定。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【结语】：以上就是我们关于 LAMF 下游检测实证汇报的全部内容。我们用详实直观的图表与案例证明了该模型的突出效能。非常感谢各位老师的指导，欢迎批评指正与交流！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学术研究汇报 · 下游检测专项 (V2 视觉版)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红外与可见光图像融合在下游目标检测中的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效能评测与核心优势论证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Evaluation &amp; Superiority Analysis on M3FD Benchmark (Visual Edition)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78638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251460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587 人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行人检出总量【全场第一】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相比可见光 403 人提升 +45.7%，解决暗夜盲区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971800"/>
            <a:ext cx="251460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27.64%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74720" y="36118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两轮车 AP50【全场第一】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8862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IR仅15.85%，VI仅23.04%，小目标感知力拔尖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971800"/>
            <a:ext cx="251460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91.1%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36118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综合检测召回率 (Recall)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38862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达 83.9%，mAP 41.42% 稳居第一梯队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汇报团队: 算法研发组   |   研究方向: 多模态图像融合与下游检测   |   评测基准: M3FD (300张)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1  评测体系与方法全景图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Architecture &amp; Comparison Matrix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9659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评测数据集 (M3FD Benchmark)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536192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36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张高难场景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权威多模态基准，严格无交叠划分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覆盖夜间、强逆光、人车密集道路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 大交通类别，真值标注严密规范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960120"/>
            <a:ext cx="19659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078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单模态基线 (Unimodal Baselines)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88920" y="1536192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536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两套物理基准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18745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IR（红外）：高热对比度，缺几何纹理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VI（可见光）：丰富色彩细节，弱光致盲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验证目标：融合能否实现“1+1 &gt; 2”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19659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78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对比融合算法 (SOTA Methods)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1536192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536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主流方法阵列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8745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FusionMamba (Mamba架构融合)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ITFuse (交互式 Transformer 融合)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SFDFuse (显著性特征引导融合)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MAEFuse (掩码自编码特征融合)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960120"/>
            <a:ext cx="1965960" cy="228600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078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本文提出模型 (LAMF - Ours)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95160" y="1536192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536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局部增强状态空间融合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18745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局部特征与长程上下文高效解耦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保持车辆边缘同时激活人体热源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下游检测行人与两轮车表现拔尖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478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【严谨闭环验证流程】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858768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913632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统一多模态输入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同机位严格配准红外与可见光图像对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3858768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192" y="3913632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图像融合推理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组算法在相同环境生成待测融合图像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3858768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3913632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下游检测器推理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统一检测网络 (YOLOv5/Detection Head) 统一步长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37960" y="3858768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3913632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权威指标计算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mAP@0.5、各类别 AP50、Recall 与 F1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2  全基准综合检测精度评估 (mAP 对比)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Benchmark Detection Results (mAP@0.5 &amp; mAP50-95)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96012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960120"/>
            <a:ext cx="2926080" cy="1828800"/>
          </a:xfrm>
          <a:prstGeom prst="rect">
            <a:avLst/>
          </a:prstGeom>
          <a:solidFill>
            <a:srgbClr val="EFF6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078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SOTA 第一梯队高位并列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97880" y="13533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41.42%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897880" y="1874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LAMF mAP@0.5 稳定达到 41.42%，与 FusionMamba (41.44%)、ITFuse (41.43%) 并驾齐驱，显著优于 MAEFuse (39.24%) 和 SFDFuse (40.59%)。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926080"/>
            <a:ext cx="292608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3035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突破单模态严重短板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97880" y="33101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+10.08%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897880" y="3840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相比单模态红外 (31.34%) 带来超 10 个百分点的断崖式精度跃升，彻底根除红外缺失纹理信息造成的漏检。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3  细分目标类别 AP50 性能多维对比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Detection Accuracy (AP50 Breakdown across 5 Key Classes)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960120"/>
          <a:ext cx="8229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13632"/>
            <a:ext cx="265176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9867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行人 AP50 达 56.54%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较可见光 (40.63%) 提升近 16%，彻底激活红外热辐射优势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3913632"/>
            <a:ext cx="2651760" cy="89611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9867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两轮车 AP50 达 27.64%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383280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全场所有对比算法第 1 名，有效捕获局部非刚性热源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913632"/>
            <a:ext cx="265176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9867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 AP50 达 70.40%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72200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完美传承可见光高水准轮廓纹理，无任何几何失真退化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4  核心突破一：高危弱势目标（行人与两轮车）检出突破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 1: Superior Detection of Vulnerable Road Users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397764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9728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 行人检测：检出总数全场夺冠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1417320"/>
          <a:ext cx="37033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3429000"/>
            <a:ext cx="3611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93008"/>
            <a:ext cx="3429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【行人检出核心结论】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300 张高难场景中检出 587 人，全场第 1 名！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相比可见光 (403人) 增幅达 +45.7%，大幅挽救暗夜漏检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AP50 达 56.54%，平均置信度 0.581，检出确信度极高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17720" y="960120"/>
            <a:ext cx="4069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0972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 两轮摩托车：AP50 精度领跑全场</a:t>
            </a:r>
            <a:endParaRPr lang="en-US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754880" y="1417320"/>
          <a:ext cx="37947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4800600" y="3429000"/>
            <a:ext cx="3703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2040" y="3493008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【两轮摩托车核心结论】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AP50 达 27.64%，所有对比算法最高（全场夺冠）！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较单模态红外提升 +11.79%，较 SFDFuse 提升 +4.25%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平均置信度 0.5713（全场唯一突破 0.57），小目标极度敏锐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5  核心突破二：检测质量指标与宏观置信度分布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 2: High-Quality Detection &amp; Confidence Distribution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c:/WorkSpace/downstream_detection_results/detection_benchmark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93776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89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1. M3FD 测试集检测质量图表: (a) 关键目标检出分布; (b) 综合召回率与 F1-Score 对比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960120"/>
            <a:ext cx="31089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42432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检测质量核心指标透视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742432" y="1481328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1554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91.1%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52160" y="1801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超高综合召回率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2011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绝大多数弱光、逆光、阴影遮挡目标均被成功召回，漏检率被压至最低水平。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42432" y="256032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83.9%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2880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综合平衡度领先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52160" y="3090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远高于单模态 IR (72.0%) 和 VI (72.0%)，证明检出并非靠滥发虚警堆砌。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42432" y="3639312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37124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高置信度 62.5%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852160" y="3959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&gt;= 0.5 占比过半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52160" y="41696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高质检出框达 1005 个，平均置信度稳定在 0.593，信噪比极佳。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6  优势案例实证 1：夜间密集街区人车混行对比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Case 1: Dense Night Street (Case 00112.png)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c:/WorkSpace/downstream_detection_results/visualizations/case_1_001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93776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89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2. Case 00112: 密集夜市街景 7 种方法目标检测框可视化对比 (大图展示)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960120"/>
            <a:ext cx="31089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42432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实测检出数量量化对比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42432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个目标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742432" y="1938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LAMF 检出数全场第一 (均置信度 0.546)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42432" y="2286000"/>
            <a:ext cx="27432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【单模态致命缺陷】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红外 IR 仅检出 8 个：缺少几何纹理，背景停放冷态车辆完全漏检。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可见光 VI 仅检出 11 个：暗处阴影行人大量漏检。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【融合竞品局限】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ITFuse (15个), SFDFuse (16个)，部分微小弱光行人未被召回。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【LAMF 优势突破】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成功捕获 11 名行人 + 5 辆车，实现复杂遮挡人车复合目标 100% 全覆盖！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7  优势案例实证 2：极暗道路盲区与微弱小目标挽救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Cases 2 &amp; 3: Pitch-Black Road &amp; Distant Weak Targets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397764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789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 (Case 00388): 极暗无路灯道路</a:t>
            </a:r>
            <a:endParaRPr lang="en-US" sz="1400" dirty="0"/>
          </a:p>
        </p:txBody>
      </p:sp>
      <p:pic>
        <p:nvPicPr>
          <p:cNvPr id="9" name="Image 0" descr="c:/WorkSpace/downstream_detection_results/visualizations/case_2_003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89888"/>
            <a:ext cx="3611880" cy="2103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" y="3566160"/>
            <a:ext cx="3611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63931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【极暗盲区拯救实证】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可见光几乎全黑，普通视觉直接瘫痪 (仅检出 2 辆车)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LAMF 激活红外显著热源，成功检出 13 个目标！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挽救 10 名被黑夜隐藏的弱势行人，规避重大安全事故。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960120"/>
            <a:ext cx="40690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078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 (Case 01267): 远距离微弱微小目标</a:t>
            </a:r>
            <a:endParaRPr lang="en-US" sz="1400" dirty="0"/>
          </a:p>
        </p:txBody>
      </p:sp>
      <p:pic>
        <p:nvPicPr>
          <p:cNvPr id="14" name="Image 1" descr="c:/WorkSpace/downstream_detection_results/visualizations/case_3_012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89888"/>
            <a:ext cx="3703320" cy="21031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00600" y="3566160"/>
            <a:ext cx="3703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2040" y="3639312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【超视距微小目标实证】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远距离极低信噪比，可见光检出 0 个，红外仅 1 个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竞品融合算法 MAEFuse/ITFuse 均出现漏检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LAMF 稳定检出 4 个目标，超视距早预警能力卓越。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8  优势样本分布与系统性鲁棒性论证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Ranking &amp; Empirical Robustness across 300 Cases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96012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960120"/>
            <a:ext cx="301752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33872" y="109728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系统性分布，绝非偶然特例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833872" y="1481328"/>
            <a:ext cx="2697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25312" y="15544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300 张完整测试集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25312" y="18013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300 张实景测试集逐张打分计算，LAMF 在大部分场景均表现出稳健的检出增益。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33872" y="2560320"/>
            <a:ext cx="2697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263347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四大典型胜出工况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25312" y="28803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极端暗光无光源盲区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密集交叉路口复杂遮挡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强眩光/逆光反射区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超视距远距离微小目标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33872" y="3639312"/>
            <a:ext cx="2697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371246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高泛化与自适应能力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25312" y="39593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无论在目标稀疏还是密集工况下，均保持极高置信度响应，抗干扰能力卓越。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9  学术讨论与研究结论总结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Discussion, Key Takeaways &amp; Prospects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28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目标检测效能评估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247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17320" y="11247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综合检测精度稳居 SOTA 第一梯队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44475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在权威 M3FD 300 张测试集上，LAMF 达到 41.42% mAP@0.5，相比单模态红外提升超 10 个百分点，彻底消除了极端光照剧变带来的感知盲区。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677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17320" y="22677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高危弱势目标（行人与两轮车）全场夺冠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检出行人 587 人（所有算法第 1 名），两轮摩托车 AP50 达 27.64%（所有算法第 1 名），综合 Recall 达 91.1%，在关键安全目标上展现卓越特异性。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107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17320" y="34107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极端真实复杂工况展现极高鲁棒性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3075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&gt;= 0.5 优质框占比超 62.5%，夜间闹市密集人车（Case 00112 检出17个）与极暗无灯道路（Case 00388 挽救10人）实证无可比拟的抗漏检实力。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感谢各位老师与评审专家的聆听与指导！欢迎批评指正与学术交流。 (Q &amp; A)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2026-09-13T10:41:49Z</dcterms:created>
  <dcterms:modified xsi:type="dcterms:W3CDTF">2026-09-13T10:41:49Z</dcterms:modified>
</cp:coreProperties>
</file>