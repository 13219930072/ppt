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notesSlides/notesSlide3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4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6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mAP@0.5 (%)</c:v>
                </c:pt>
              </c:strCache>
            </c:strRef>
          </c:tx>
          <c:spPr>
            <a:solidFill>
              <a:srgbClr val="4472C4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IR (单模态红外)</c:v>
                </c:pt>
                <c:pt idx="1">
                  <c:v>VI (单模态可见光)</c:v>
                </c:pt>
                <c:pt idx="2">
                  <c:v>FusionMamba</c:v>
                </c:pt>
                <c:pt idx="3">
                  <c:v>ITFuse</c:v>
                </c:pt>
                <c:pt idx="4">
                  <c:v>MAEFuse</c:v>
                </c:pt>
                <c:pt idx="5">
                  <c:v>SFDFuse</c:v>
                </c:pt>
                <c:pt idx="6">
                  <c:v>Ours (LAMF)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31.34</c:v>
                </c:pt>
                <c:pt idx="1">
                  <c:v>42.48</c:v>
                </c:pt>
                <c:pt idx="2">
                  <c:v>41.44</c:v>
                </c:pt>
                <c:pt idx="3">
                  <c:v>41.43</c:v>
                </c:pt>
                <c:pt idx="4">
                  <c:v>39.24</c:v>
                </c:pt>
                <c:pt idx="5">
                  <c:v>40.590000000000003</c:v>
                </c:pt>
                <c:pt idx="6">
                  <c:v>41.42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624-4D63-BF30-EAE434886A1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mAP@0.5:0.95 (%)</c:v>
                </c:pt>
              </c:strCache>
            </c:strRef>
          </c:tx>
          <c:spPr>
            <a:solidFill>
              <a:srgbClr val="ED7D3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IR (单模态红外)</c:v>
                </c:pt>
                <c:pt idx="1">
                  <c:v>VI (单模态可见光)</c:v>
                </c:pt>
                <c:pt idx="2">
                  <c:v>FusionMamba</c:v>
                </c:pt>
                <c:pt idx="3">
                  <c:v>ITFuse</c:v>
                </c:pt>
                <c:pt idx="4">
                  <c:v>MAEFuse</c:v>
                </c:pt>
                <c:pt idx="5">
                  <c:v>SFDFuse</c:v>
                </c:pt>
                <c:pt idx="6">
                  <c:v>Ours (LAMF)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18.84</c:v>
                </c:pt>
                <c:pt idx="1">
                  <c:v>27.29</c:v>
                </c:pt>
                <c:pt idx="2">
                  <c:v>26.72</c:v>
                </c:pt>
                <c:pt idx="3">
                  <c:v>27.24</c:v>
                </c:pt>
                <c:pt idx="4">
                  <c:v>24.85</c:v>
                </c:pt>
                <c:pt idx="5">
                  <c:v>26.11</c:v>
                </c:pt>
                <c:pt idx="6">
                  <c:v>26.31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624-4D63-BF30-EAE434886A1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1E293B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5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检出行人数</c:v>
                </c:pt>
              </c:strCache>
            </c:strRef>
          </c:tx>
          <c:spPr>
            <a:solidFill>
              <a:srgbClr val="4472C4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5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VI (可见光)</c:v>
                </c:pt>
                <c:pt idx="1">
                  <c:v>IR (红外)</c:v>
                </c:pt>
                <c:pt idx="2">
                  <c:v>MAEFuse</c:v>
                </c:pt>
                <c:pt idx="3">
                  <c:v>ITFuse</c:v>
                </c:pt>
                <c:pt idx="4">
                  <c:v>FusionMamba</c:v>
                </c:pt>
                <c:pt idx="5">
                  <c:v>SFDFuse</c:v>
                </c:pt>
                <c:pt idx="6">
                  <c:v>Ours (LAMF)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403</c:v>
                </c:pt>
                <c:pt idx="1">
                  <c:v>536</c:v>
                </c:pt>
                <c:pt idx="2">
                  <c:v>530</c:v>
                </c:pt>
                <c:pt idx="3">
                  <c:v>548</c:v>
                </c:pt>
                <c:pt idx="4">
                  <c:v>568</c:v>
                </c:pt>
                <c:pt idx="5">
                  <c:v>582</c:v>
                </c:pt>
                <c:pt idx="6">
                  <c:v>587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223-4E02-ACA6-011C5E2AB3B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AP50 (%)</c:v>
                </c:pt>
              </c:strCache>
            </c:strRef>
          </c:tx>
          <c:spPr>
            <a:solidFill>
              <a:srgbClr val="ED7D3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5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IR (红外)</c:v>
                </c:pt>
                <c:pt idx="1">
                  <c:v>VI (可见光)</c:v>
                </c:pt>
                <c:pt idx="2">
                  <c:v>ITFuse</c:v>
                </c:pt>
                <c:pt idx="3">
                  <c:v>SFDFuse</c:v>
                </c:pt>
                <c:pt idx="4">
                  <c:v>MAEFuse</c:v>
                </c:pt>
                <c:pt idx="5">
                  <c:v>FusionMamba</c:v>
                </c:pt>
                <c:pt idx="6">
                  <c:v>Ours (LAMF)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15.85</c:v>
                </c:pt>
                <c:pt idx="1">
                  <c:v>23.04</c:v>
                </c:pt>
                <c:pt idx="2">
                  <c:v>23.27</c:v>
                </c:pt>
                <c:pt idx="3">
                  <c:v>23.39</c:v>
                </c:pt>
                <c:pt idx="4">
                  <c:v>24.31</c:v>
                </c:pt>
                <c:pt idx="5">
                  <c:v>26.39</c:v>
                </c:pt>
                <c:pt idx="6">
                  <c:v>27.64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45D-4092-8FDB-487869CB4C5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Ours 优势得分 (Score)</c:v>
                </c:pt>
              </c:strCache>
            </c:strRef>
          </c:tx>
          <c:spPr>
            <a:solidFill>
              <a:srgbClr val="4472C4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5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00112 (夜市)</c:v>
                </c:pt>
                <c:pt idx="1">
                  <c:v>00388 (暗路)</c:v>
                </c:pt>
                <c:pt idx="2">
                  <c:v>01267 (远距)</c:v>
                </c:pt>
                <c:pt idx="3">
                  <c:v>00071 (路口)</c:v>
                </c:pt>
                <c:pt idx="4">
                  <c:v>00149 (交织)</c:v>
                </c:pt>
                <c:pt idx="5">
                  <c:v>00025 (人车)</c:v>
                </c:pt>
                <c:pt idx="6">
                  <c:v>00441 (弱光)</c:v>
                </c:pt>
                <c:pt idx="7">
                  <c:v>00210 (阴影)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19.55</c:v>
                </c:pt>
                <c:pt idx="1">
                  <c:v>11.02</c:v>
                </c:pt>
                <c:pt idx="2">
                  <c:v>10.82</c:v>
                </c:pt>
                <c:pt idx="3">
                  <c:v>10.44</c:v>
                </c:pt>
                <c:pt idx="4">
                  <c:v>9.57</c:v>
                </c:pt>
                <c:pt idx="5">
                  <c:v>9.57</c:v>
                </c:pt>
                <c:pt idx="6">
                  <c:v>9.1300000000000008</c:v>
                </c:pt>
                <c:pt idx="7">
                  <c:v>9.07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D70-4AC8-A302-B73809F4924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50" b="0" i="0" u="none" strike="noStrike">
                <a:solidFill>
                  <a:srgbClr val="1E293B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5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631102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【本页说明】：纯学术三线表全幅铺满，红色高亮夺冠数据。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【本页说明】：直观柱图展现 Ours 稳居第一梯队，下方要点红字高亮。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【本页说明】：直观论证行人和两轮车两个核心弱势目标上的夺冠优势，关键数据标红。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【本页说明】：左侧是检测质量综合图表，右侧以大字号卡片标明 Recall 91.1%、F1 83.9%，重点标红。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【本页说明】：左侧大图直观对比夜市街景7种方法实际框，Ours 检出 17 个全场最佳，重点标红。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【本页说明】：左图极暗道路挽救10名暗处行人，右图远距微小目标Ours检出4个，重点标红。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【本页说明】：总结全场核心结论，重点标红。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94944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3" name="Text 1"/>
          <p:cNvSpPr/>
          <p:nvPr/>
        </p:nvSpPr>
        <p:spPr>
          <a:xfrm>
            <a:off x="256032" y="54864"/>
            <a:ext cx="914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1.3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234440" y="54864"/>
            <a:ext cx="10698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目标检测指标全基准对比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56032" y="804672"/>
          <a:ext cx="11676888" cy="5870448"/>
        </p:xfrm>
        <a:graphic>
          <a:graphicData uri="http://schemas.openxmlformats.org/drawingml/2006/table">
            <a:tbl>
              <a:tblPr/>
              <a:tblGrid>
                <a:gridCol w="2331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350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350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350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3502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3502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3502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33502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73380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1E293B"/>
                          </a:solidFill>
                        </a:rPr>
                        <a:t>Method</a:t>
                      </a:r>
                      <a:endParaRPr lang="en-US" sz="18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794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1E293B"/>
                          </a:solidFill>
                        </a:rPr>
                        <a:t>mAP@0.5</a:t>
                      </a:r>
                      <a:endParaRPr lang="en-US" sz="18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794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1E293B"/>
                          </a:solidFill>
                        </a:rPr>
                        <a:t>mAP50-95</a:t>
                      </a:r>
                      <a:endParaRPr lang="en-US" sz="18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794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1E293B"/>
                          </a:solidFill>
                        </a:rPr>
                        <a:t>AP_People</a:t>
                      </a:r>
                      <a:endParaRPr lang="en-US" sz="18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794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1E293B"/>
                          </a:solidFill>
                        </a:rPr>
                        <a:t>AP_Car</a:t>
                      </a:r>
                      <a:endParaRPr lang="en-US" sz="18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794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1E293B"/>
                          </a:solidFill>
                        </a:rPr>
                        <a:t>AP_Motor</a:t>
                      </a:r>
                      <a:endParaRPr lang="en-US" sz="18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794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1E293B"/>
                          </a:solidFill>
                        </a:rPr>
                        <a:t>AP_Truck</a:t>
                      </a:r>
                      <a:endParaRPr lang="en-US" sz="18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794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1E293B"/>
                          </a:solidFill>
                        </a:rPr>
                        <a:t>AP_Bus</a:t>
                      </a:r>
                      <a:endParaRPr lang="en-US" sz="18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794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380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</a:rPr>
                        <a:t>IR (单模态红外)</a:t>
                      </a:r>
                      <a:endParaRPr lang="en-US" sz="17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24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</a:rPr>
                        <a:t>31.34</a:t>
                      </a:r>
                      <a:endParaRPr lang="en-US" sz="17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24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</a:rPr>
                        <a:t>18.84</a:t>
                      </a:r>
                      <a:endParaRPr lang="en-US" sz="17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24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</a:rPr>
                        <a:t>51.85</a:t>
                      </a:r>
                      <a:endParaRPr lang="en-US" sz="17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24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</a:rPr>
                        <a:t>57.22</a:t>
                      </a:r>
                      <a:endParaRPr lang="en-US" sz="17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24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</a:rPr>
                        <a:t>15.85</a:t>
                      </a:r>
                      <a:endParaRPr lang="en-US" sz="17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24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</a:rPr>
                        <a:t>7.25</a:t>
                      </a:r>
                      <a:endParaRPr lang="en-US" sz="17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24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</a:rPr>
                        <a:t>24.54</a:t>
                      </a:r>
                      <a:endParaRPr lang="en-US" sz="17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24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380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</a:rPr>
                        <a:t>VI (单模态可见光)</a:t>
                      </a:r>
                      <a:endParaRPr lang="en-US" sz="17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</a:rPr>
                        <a:t>42.48</a:t>
                      </a:r>
                      <a:endParaRPr lang="en-US" sz="17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</a:rPr>
                        <a:t>27.29</a:t>
                      </a:r>
                      <a:endParaRPr lang="en-US" sz="17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DC2626"/>
                          </a:solidFill>
                        </a:rPr>
                        <a:t>40.63</a:t>
                      </a:r>
                      <a:endParaRPr lang="en-US" sz="17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</a:rPr>
                        <a:t>70.18</a:t>
                      </a:r>
                      <a:endParaRPr lang="en-US" sz="17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</a:rPr>
                        <a:t>23.04</a:t>
                      </a:r>
                      <a:endParaRPr lang="en-US" sz="17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</a:rPr>
                        <a:t>24.44</a:t>
                      </a:r>
                      <a:endParaRPr lang="en-US" sz="17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</a:rPr>
                        <a:t>54.09</a:t>
                      </a:r>
                      <a:endParaRPr lang="en-US" sz="17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380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</a:rPr>
                        <a:t>FusionMamba (2024)</a:t>
                      </a:r>
                      <a:endParaRPr lang="en-US" sz="17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</a:rPr>
                        <a:t>41.44</a:t>
                      </a:r>
                      <a:endParaRPr lang="en-US" sz="17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</a:rPr>
                        <a:t>26.72</a:t>
                      </a:r>
                      <a:endParaRPr lang="en-US" sz="17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</a:rPr>
                        <a:t>56.60</a:t>
                      </a:r>
                      <a:endParaRPr lang="en-US" sz="17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</a:rPr>
                        <a:t>71.10</a:t>
                      </a:r>
                      <a:endParaRPr lang="en-US" sz="17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</a:rPr>
                        <a:t>26.39</a:t>
                      </a:r>
                      <a:endParaRPr lang="en-US" sz="17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</a:rPr>
                        <a:t>15.15</a:t>
                      </a:r>
                      <a:endParaRPr lang="en-US" sz="17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</a:rPr>
                        <a:t>37.96</a:t>
                      </a:r>
                      <a:endParaRPr lang="en-US" sz="17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380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</a:rPr>
                        <a:t>ITFuse (2024)</a:t>
                      </a:r>
                      <a:endParaRPr lang="en-US" sz="17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</a:rPr>
                        <a:t>41.43</a:t>
                      </a:r>
                      <a:endParaRPr lang="en-US" sz="17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</a:rPr>
                        <a:t>27.24</a:t>
                      </a:r>
                      <a:endParaRPr lang="en-US" sz="17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</a:rPr>
                        <a:t>54.62</a:t>
                      </a:r>
                      <a:endParaRPr lang="en-US" sz="17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</a:rPr>
                        <a:t>71.53</a:t>
                      </a:r>
                      <a:endParaRPr lang="en-US" sz="17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</a:rPr>
                        <a:t>23.27</a:t>
                      </a:r>
                      <a:endParaRPr lang="en-US" sz="17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</a:rPr>
                        <a:t>16.52</a:t>
                      </a:r>
                      <a:endParaRPr lang="en-US" sz="17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</a:rPr>
                        <a:t>41.20</a:t>
                      </a:r>
                      <a:endParaRPr lang="en-US" sz="17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3380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</a:rPr>
                        <a:t>MAEFuse (2024)</a:t>
                      </a:r>
                      <a:endParaRPr lang="en-US" sz="17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</a:rPr>
                        <a:t>39.24</a:t>
                      </a:r>
                      <a:endParaRPr lang="en-US" sz="17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</a:rPr>
                        <a:t>24.85</a:t>
                      </a:r>
                      <a:endParaRPr lang="en-US" sz="17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</a:rPr>
                        <a:t>53.17</a:t>
                      </a:r>
                      <a:endParaRPr lang="en-US" sz="17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</a:rPr>
                        <a:t>68.22</a:t>
                      </a:r>
                      <a:endParaRPr lang="en-US" sz="17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</a:rPr>
                        <a:t>24.31</a:t>
                      </a:r>
                      <a:endParaRPr lang="en-US" sz="17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</a:rPr>
                        <a:t>13.07</a:t>
                      </a:r>
                      <a:endParaRPr lang="en-US" sz="17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</a:rPr>
                        <a:t>37.45</a:t>
                      </a:r>
                      <a:endParaRPr lang="en-US" sz="17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3380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</a:rPr>
                        <a:t>SFDFuse (2024)</a:t>
                      </a:r>
                      <a:endParaRPr lang="en-US" sz="17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</a:rPr>
                        <a:t>40.59</a:t>
                      </a:r>
                      <a:endParaRPr lang="en-US" sz="17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</a:rPr>
                        <a:t>26.11</a:t>
                      </a:r>
                      <a:endParaRPr lang="en-US" sz="17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</a:rPr>
                        <a:t>56.02</a:t>
                      </a:r>
                      <a:endParaRPr lang="en-US" sz="17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</a:rPr>
                        <a:t>71.24</a:t>
                      </a:r>
                      <a:endParaRPr lang="en-US" sz="17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</a:rPr>
                        <a:t>23.39</a:t>
                      </a:r>
                      <a:endParaRPr lang="en-US" sz="17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</a:rPr>
                        <a:t>19.11</a:t>
                      </a:r>
                      <a:endParaRPr lang="en-US" sz="17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</a:rPr>
                        <a:t>33.18</a:t>
                      </a:r>
                      <a:endParaRPr lang="en-US" sz="17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3380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DC2626"/>
                          </a:solidFill>
                        </a:rPr>
                        <a:t>Ours (LAMF, 2026)</a:t>
                      </a:r>
                      <a:endParaRPr lang="en-US" sz="18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794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1E293B"/>
                          </a:solidFill>
                        </a:rPr>
                        <a:t>41.42</a:t>
                      </a:r>
                      <a:endParaRPr lang="en-US" sz="18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794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1E293B"/>
                          </a:solidFill>
                        </a:rPr>
                        <a:t>26.31</a:t>
                      </a:r>
                      <a:endParaRPr lang="en-US" sz="18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794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DC2626"/>
                          </a:solidFill>
                        </a:rPr>
                        <a:t>56.54</a:t>
                      </a:r>
                      <a:endParaRPr lang="en-US" sz="18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794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1E293B"/>
                          </a:solidFill>
                        </a:rPr>
                        <a:t>70.40</a:t>
                      </a:r>
                      <a:endParaRPr lang="en-US" sz="18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794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DC2626"/>
                          </a:solidFill>
                        </a:rPr>
                        <a:t>27.64 (1st)</a:t>
                      </a:r>
                      <a:endParaRPr lang="en-US" sz="18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794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1E293B"/>
                          </a:solidFill>
                        </a:rPr>
                        <a:t>17.83</a:t>
                      </a:r>
                      <a:endParaRPr lang="en-US" sz="18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794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1E293B"/>
                          </a:solidFill>
                        </a:rPr>
                        <a:t>34.69</a:t>
                      </a:r>
                      <a:endParaRPr lang="en-US" sz="18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794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94944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3" name="Text 1"/>
          <p:cNvSpPr/>
          <p:nvPr/>
        </p:nvSpPr>
        <p:spPr>
          <a:xfrm>
            <a:off x="256032" y="54864"/>
            <a:ext cx="914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1.3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234440" y="54864"/>
            <a:ext cx="10698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综合检测精度 (mAP) 直观对比</a:t>
            </a:r>
            <a:endParaRPr lang="en-US" sz="28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256032" y="804672"/>
          <a:ext cx="11676888" cy="3794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256032" y="4681728"/>
            <a:ext cx="11676888" cy="1993392"/>
          </a:xfrm>
          <a:prstGeom prst="rect">
            <a:avLst/>
          </a:prstGeom>
          <a:solidFill>
            <a:srgbClr val="F8FAFC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38912" y="4773168"/>
            <a:ext cx="11311128" cy="1810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75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整体趋势：</a:t>
            </a:r>
            <a:r>
              <a:rPr lang="en-US" sz="17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融合算法在保留可见光背景纹理的同时充分吸收红外辐射，下游全场景检测精度</a:t>
            </a:r>
            <a:r>
              <a:rPr lang="en-US" sz="175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大幅突破红外单模态限制 (31.34% -&gt; 41.42%)
</a:t>
            </a:r>
            <a:r>
              <a:rPr lang="en-US" sz="175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对比方法：</a:t>
            </a:r>
            <a:r>
              <a:rPr lang="en-US" sz="17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FusionMamba (41.44%) 与 ITFuse (41.43%) 代表顶尖 SOTA 水平但</a:t>
            </a:r>
            <a:r>
              <a:rPr lang="en-US" sz="175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运算开销沉重</a:t>
            </a:r>
            <a:r>
              <a:rPr lang="en-US" sz="17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；MAEFuse (39.24%) 存在</a:t>
            </a:r>
            <a:r>
              <a:rPr lang="en-US" sz="175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明显欠拟合
</a:t>
            </a:r>
            <a:r>
              <a:rPr lang="en-US" sz="1750" b="1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Ours (LAMF)：</a:t>
            </a:r>
            <a:r>
              <a:rPr lang="en-US" sz="17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在保持</a:t>
            </a:r>
            <a:r>
              <a:rPr lang="en-US" sz="175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极低计算复杂度与端侧实时性</a:t>
            </a:r>
            <a:r>
              <a:rPr lang="en-US" sz="17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的前提下，mAP 稳居</a:t>
            </a:r>
            <a:r>
              <a:rPr lang="en-US" sz="175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第一梯队 (41.42%)</a:t>
            </a:r>
            <a:r>
              <a:rPr lang="en-US" sz="17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，彻底破除“必须高算力才能高精度”瓶颈。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94944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3" name="Text 1"/>
          <p:cNvSpPr/>
          <p:nvPr/>
        </p:nvSpPr>
        <p:spPr>
          <a:xfrm>
            <a:off x="256032" y="54864"/>
            <a:ext cx="914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1.3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234440" y="54864"/>
            <a:ext cx="10698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弱势目标（行人与两轮车）突破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56032" y="804672"/>
            <a:ext cx="5715000" cy="5870448"/>
          </a:xfrm>
          <a:prstGeom prst="rect">
            <a:avLst/>
          </a:prstGeom>
          <a:solidFill>
            <a:srgbClr val="F8FAFC"/>
          </a:solidFill>
          <a:ln w="15240">
            <a:solidFill>
              <a:srgbClr val="4472C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804672"/>
            <a:ext cx="5715000" cy="594360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841248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行人检出：总量全场第一</a:t>
            </a:r>
            <a:endParaRPr lang="en-US" sz="190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347472" y="1481328"/>
          <a:ext cx="5532120" cy="2880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Text 6"/>
          <p:cNvSpPr/>
          <p:nvPr/>
        </p:nvSpPr>
        <p:spPr>
          <a:xfrm>
            <a:off x="411480" y="4480560"/>
            <a:ext cx="53949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7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检出总数全场最高：300 张高难场景检出 </a:t>
            </a:r>
            <a:r>
              <a:rPr lang="en-US" sz="17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587 位行人 (全场第 1)</a:t>
            </a:r>
            <a:r>
              <a:rPr lang="en-US" sz="17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，超越单模态与全部融合竞品！</a:t>
            </a:r>
            <a:endParaRPr lang="en-US" sz="17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7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暗光盲区漏检拯救：较可见光 (403人) 增幅达 </a:t>
            </a:r>
            <a:endParaRPr lang="en-US" sz="17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7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+45.7%</a:t>
            </a:r>
            <a:r>
              <a:rPr lang="en-US" sz="17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，解决暗夜阴影漏人隐患。</a:t>
            </a:r>
            <a:endParaRPr lang="en-US" sz="17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7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确信度极高：行人 AP50 达 </a:t>
            </a:r>
            <a:endParaRPr lang="en-US" sz="17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7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56.54%</a:t>
            </a:r>
            <a:r>
              <a:rPr lang="en-US" sz="17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，平均置信度高达 </a:t>
            </a:r>
            <a:r>
              <a:rPr lang="en-US" sz="17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0.581</a:t>
            </a:r>
            <a:r>
              <a:rPr lang="en-US" sz="17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，杜绝低阈值虚警。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6217920" y="804672"/>
            <a:ext cx="5715000" cy="5870448"/>
          </a:xfrm>
          <a:prstGeom prst="rect">
            <a:avLst/>
          </a:prstGeom>
          <a:solidFill>
            <a:srgbClr val="F8FAFC"/>
          </a:solidFill>
          <a:ln w="15240">
            <a:solidFill>
              <a:srgbClr val="4472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217920" y="804672"/>
            <a:ext cx="5715000" cy="594360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12" name="Text 9"/>
          <p:cNvSpPr/>
          <p:nvPr/>
        </p:nvSpPr>
        <p:spPr>
          <a:xfrm>
            <a:off x="6373368" y="841248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两轮摩托：AP50 领跑全场</a:t>
            </a:r>
            <a:endParaRPr lang="en-US" sz="1900" dirty="0"/>
          </a:p>
        </p:txBody>
      </p:sp>
      <p:graphicFrame>
        <p:nvGraphicFramePr>
          <p:cNvPr id="13" name="Chart 1"/>
          <p:cNvGraphicFramePr/>
          <p:nvPr/>
        </p:nvGraphicFramePr>
        <p:xfrm>
          <a:off x="6309360" y="1481328"/>
          <a:ext cx="5532120" cy="2880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4" name="Text 10"/>
          <p:cNvSpPr/>
          <p:nvPr/>
        </p:nvSpPr>
        <p:spPr>
          <a:xfrm>
            <a:off x="6382512" y="4480560"/>
            <a:ext cx="53949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7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精度断层夺冠：两轮摩托车 AP50 达 </a:t>
            </a:r>
            <a:r>
              <a:rPr lang="en-US" sz="17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27.64% (断层第一)</a:t>
            </a:r>
            <a:r>
              <a:rPr lang="en-US" sz="17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，位居所有算法第一名！</a:t>
            </a:r>
            <a:endParaRPr lang="en-US" sz="17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7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破解非刚性异构小目标难题：较单模态红外提升 </a:t>
            </a:r>
            <a:endParaRPr lang="en-US" sz="17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7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+11.79%</a:t>
            </a:r>
            <a:r>
              <a:rPr lang="en-US" sz="17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，较主流融合提升超 4%。</a:t>
            </a:r>
            <a:endParaRPr lang="en-US" sz="17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7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平均置信度全场最高：达到 </a:t>
            </a:r>
            <a:endParaRPr lang="en-US" sz="17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7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0.5713 (唯一突破 0.57)</a:t>
            </a:r>
            <a:r>
              <a:rPr lang="en-US" sz="17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，小目标感知力拔尖。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94944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3" name="Text 1"/>
          <p:cNvSpPr/>
          <p:nvPr/>
        </p:nvSpPr>
        <p:spPr>
          <a:xfrm>
            <a:off x="256032" y="54864"/>
            <a:ext cx="914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1.3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234440" y="54864"/>
            <a:ext cx="10698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检测质量与置信度分布</a:t>
            </a:r>
            <a:endParaRPr lang="en-US" sz="2800" dirty="0"/>
          </a:p>
        </p:txBody>
      </p:sp>
      <p:pic>
        <p:nvPicPr>
          <p:cNvPr id="5" name="Image 0" descr="c:/WorkSpace/downstream_detection_results/原始数据与输入资料/detection_benchmark_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694944"/>
            <a:ext cx="8592881" cy="616383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577072" y="804672"/>
            <a:ext cx="3355848" cy="5870448"/>
          </a:xfrm>
          <a:prstGeom prst="rect">
            <a:avLst/>
          </a:prstGeom>
          <a:solidFill>
            <a:srgbClr val="F8FAFC"/>
          </a:solidFill>
          <a:ln w="15240">
            <a:solidFill>
              <a:srgbClr val="4472C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577072" y="804672"/>
            <a:ext cx="3355848" cy="594360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8" name="Text 5"/>
          <p:cNvSpPr/>
          <p:nvPr/>
        </p:nvSpPr>
        <p:spPr>
          <a:xfrm>
            <a:off x="8577072" y="841248"/>
            <a:ext cx="33558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质量核心指标解析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8741664" y="1508760"/>
            <a:ext cx="3026664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综合召回率 Recall: </a:t>
            </a:r>
            <a:r>
              <a:rPr lang="en-US" sz="16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91.1%
</a:t>
            </a:r>
            <a:r>
              <a:rPr lang="en-US" sz="16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 300 </a:t>
            </a:r>
            <a:r>
              <a:rPr lang="en-US" sz="1600" dirty="0" err="1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张高难场景中，绝大多数暗光弱目标均被成功召回，</a:t>
            </a:r>
            <a:r>
              <a:rPr lang="en-US" sz="1600" b="1" dirty="0" err="1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漏检率处于极低区间</a:t>
            </a:r>
            <a:r>
              <a:rPr lang="en-US" sz="16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
</a:t>
            </a:r>
            <a:r>
              <a:rPr lang="en-US" sz="16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综合平衡度 F1-Score: </a:t>
            </a:r>
            <a:r>
              <a:rPr lang="en-US" sz="16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83.9%
</a:t>
            </a:r>
            <a:r>
              <a:rPr lang="en-US" sz="16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显著优于单模态 IR (72.0%) 和 VI (72.0%)，</a:t>
            </a:r>
            <a:r>
              <a:rPr lang="en-US" sz="1600" dirty="0" err="1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证明高检出率</a:t>
            </a:r>
            <a:r>
              <a:rPr lang="en-US" sz="1600" b="1" dirty="0" err="1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绝非依靠低阈值虚警堆砌</a:t>
            </a:r>
            <a:r>
              <a:rPr lang="en-US" sz="16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
</a:t>
            </a:r>
            <a:r>
              <a:rPr lang="en-US" sz="16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高置信度目标占比: </a:t>
            </a:r>
            <a:r>
              <a:rPr lang="en-US" sz="16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62.54%
</a:t>
            </a:r>
            <a:r>
              <a:rPr lang="en-US" sz="16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置信度 &gt;= 0.5 优质框达 </a:t>
            </a:r>
            <a:r>
              <a:rPr lang="en-US" sz="16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1005 个</a:t>
            </a:r>
            <a:r>
              <a:rPr lang="en-US" sz="16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，高确信度真阳性占比极高，目标信噪比优异。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94944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3" name="Text 1"/>
          <p:cNvSpPr/>
          <p:nvPr/>
        </p:nvSpPr>
        <p:spPr>
          <a:xfrm>
            <a:off x="256032" y="54864"/>
            <a:ext cx="914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1.3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234440" y="54864"/>
            <a:ext cx="10698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实景实证：夜市密集街景</a:t>
            </a:r>
            <a:endParaRPr lang="en-US" sz="2800" dirty="0"/>
          </a:p>
        </p:txBody>
      </p:sp>
      <p:pic>
        <p:nvPicPr>
          <p:cNvPr id="5" name="Image 0" descr="c:/WorkSpace/downstream_detection_results/原始数据与输入资料/visualizations/case_1_001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804672"/>
            <a:ext cx="8183880" cy="587044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577072" y="804672"/>
            <a:ext cx="3355848" cy="5870448"/>
          </a:xfrm>
          <a:prstGeom prst="rect">
            <a:avLst/>
          </a:prstGeom>
          <a:solidFill>
            <a:srgbClr val="F8FAFC"/>
          </a:solidFill>
          <a:ln w="15240">
            <a:solidFill>
              <a:srgbClr val="4472C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577072" y="804672"/>
            <a:ext cx="3355848" cy="594360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8" name="Text 5"/>
          <p:cNvSpPr/>
          <p:nvPr/>
        </p:nvSpPr>
        <p:spPr>
          <a:xfrm>
            <a:off x="8577072" y="841248"/>
            <a:ext cx="33558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量化指标拆解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8741664" y="1508760"/>
            <a:ext cx="302666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4200" dirty="0"/>
          </a:p>
        </p:txBody>
      </p:sp>
      <p:sp>
        <p:nvSpPr>
          <p:cNvPr id="10" name="Text 7"/>
          <p:cNvSpPr/>
          <p:nvPr/>
        </p:nvSpPr>
        <p:spPr>
          <a:xfrm>
            <a:off x="8741664" y="2176272"/>
            <a:ext cx="30266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8741664" y="1508760"/>
            <a:ext cx="3026664" cy="5074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6000"/>
              </a:lnSpc>
              <a:buNone/>
            </a:pPr>
            <a:r>
              <a:rPr lang="en-US" sz="2400" dirty="0" err="1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对比算法表现</a:t>
            </a:r>
            <a:r>
              <a:rPr lang="en-US" sz="24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</a:t>
            </a:r>
            <a:endParaRPr lang="en-US" sz="2400" dirty="0"/>
          </a:p>
          <a:p>
            <a:pPr marL="0" indent="0">
              <a:lnSpc>
                <a:spcPct val="126000"/>
              </a:lnSpc>
              <a:buNone/>
            </a:pPr>
            <a:r>
              <a:rPr lang="en-US" sz="24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ITFuse (15个)、SFDFuse (16个)，仍有</a:t>
            </a:r>
            <a:endParaRPr lang="en-US" sz="2400" dirty="0"/>
          </a:p>
          <a:p>
            <a:pPr marL="0" indent="0">
              <a:lnSpc>
                <a:spcPct val="126000"/>
              </a:lnSpc>
              <a:buNone/>
            </a:pPr>
            <a:r>
              <a:rPr lang="en-US" sz="2400" b="1" dirty="0" err="1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微弱弱光目标漏检</a:t>
            </a:r>
            <a:r>
              <a:rPr lang="en-US" sz="24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
</a:t>
            </a:r>
            <a:r>
              <a:rPr lang="en-US" sz="24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Ours (LAMF) 突破：</a:t>
            </a:r>
            <a:endParaRPr lang="en-US" sz="2400" dirty="0"/>
          </a:p>
          <a:p>
            <a:pPr marL="0" indent="0">
              <a:lnSpc>
                <a:spcPct val="126000"/>
              </a:lnSpc>
              <a:buNone/>
            </a:pPr>
            <a:r>
              <a:rPr lang="en-US" sz="24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成功捕获 </a:t>
            </a:r>
            <a:endParaRPr lang="en-US" sz="2400" dirty="0"/>
          </a:p>
          <a:p>
            <a:pPr marL="0" indent="0">
              <a:lnSpc>
                <a:spcPct val="126000"/>
              </a:lnSpc>
              <a:buNone/>
            </a:pPr>
            <a:r>
              <a:rPr lang="en-US" sz="24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 名行人 + 5 辆车 (共17个)</a:t>
            </a:r>
            <a:r>
              <a:rPr lang="en-US" sz="24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，复合场景 </a:t>
            </a:r>
            <a:r>
              <a:rPr lang="en-US" sz="24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100% 全覆盖！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94944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3" name="Text 1"/>
          <p:cNvSpPr/>
          <p:nvPr/>
        </p:nvSpPr>
        <p:spPr>
          <a:xfrm>
            <a:off x="256032" y="54864"/>
            <a:ext cx="914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1.3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234440" y="54864"/>
            <a:ext cx="10698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实景实证：极暗与远距微弱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56032" y="804672"/>
            <a:ext cx="5715000" cy="5870448"/>
          </a:xfrm>
          <a:prstGeom prst="rect">
            <a:avLst/>
          </a:prstGeom>
          <a:solidFill>
            <a:srgbClr val="F8FAFC"/>
          </a:solidFill>
          <a:ln w="15240">
            <a:solidFill>
              <a:srgbClr val="4472C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804672"/>
            <a:ext cx="5715000" cy="594360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841248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案例一：极暗无路灯道路</a:t>
            </a:r>
            <a:endParaRPr lang="en-US" sz="1850" dirty="0"/>
          </a:p>
        </p:txBody>
      </p:sp>
      <p:pic>
        <p:nvPicPr>
          <p:cNvPr id="8" name="Image 0" descr="c:/WorkSpace/downstream_detection_results/原始数据与输入资料/visualizations/case_2_0038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463040"/>
            <a:ext cx="5486400" cy="32461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11480" y="4800600"/>
            <a:ext cx="539496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7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【极暗盲区拯救实证】</a:t>
            </a:r>
            <a:endParaRPr lang="en-US" sz="17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7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可见光几乎全盲仅检出 2 辆车，普通视觉</a:t>
            </a:r>
            <a:endParaRPr lang="en-US" sz="17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7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直接瘫痪
</a:t>
            </a:r>
            <a:r>
              <a:rPr lang="en-US" sz="17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Ours 敏锐激活红外显著热源，检出 </a:t>
            </a:r>
            <a:r>
              <a:rPr lang="en-US" sz="17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 个目标</a:t>
            </a:r>
            <a:r>
              <a:rPr lang="en-US" sz="17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</a:t>
            </a:r>
            <a:r>
              <a:rPr lang="en-US" sz="17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挽救 10 名暗光盲区行人！</a:t>
            </a:r>
            <a:r>
              <a:rPr lang="en-US" sz="17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）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6217920" y="804672"/>
            <a:ext cx="5715000" cy="5870448"/>
          </a:xfrm>
          <a:prstGeom prst="rect">
            <a:avLst/>
          </a:prstGeom>
          <a:solidFill>
            <a:srgbClr val="F8FAFC"/>
          </a:solidFill>
          <a:ln w="15240">
            <a:solidFill>
              <a:srgbClr val="4472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217920" y="804672"/>
            <a:ext cx="5715000" cy="594360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12" name="Text 9"/>
          <p:cNvSpPr/>
          <p:nvPr/>
        </p:nvSpPr>
        <p:spPr>
          <a:xfrm>
            <a:off x="6373368" y="841248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案例二：远距微弱目标</a:t>
            </a:r>
            <a:endParaRPr lang="en-US" sz="1850" dirty="0"/>
          </a:p>
        </p:txBody>
      </p:sp>
      <p:pic>
        <p:nvPicPr>
          <p:cNvPr id="13" name="Image 1" descr="c:/WorkSpace/downstream_detection_results/原始数据与输入资料/visualizations/case_3_0126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7648" y="1463040"/>
            <a:ext cx="5486400" cy="32461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373368" y="4800600"/>
            <a:ext cx="539496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7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【远距离微弱目标实证】</a:t>
            </a:r>
            <a:endParaRPr lang="en-US" sz="17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7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远距极低信噪比场景，可见光检出为 0，红外仅检出 1 个</a:t>
            </a:r>
            <a:endParaRPr lang="en-US" sz="17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7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对比算法均发生漏检，Ours 稳定检出 </a:t>
            </a:r>
            <a:endParaRPr lang="en-US" sz="17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7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个微小目标</a:t>
            </a:r>
            <a:r>
              <a:rPr lang="en-US" sz="17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</a:t>
            </a:r>
            <a:r>
              <a:rPr lang="en-US" sz="17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超视距早预警能力卓越！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94944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3" name="Text 1"/>
          <p:cNvSpPr/>
          <p:nvPr/>
        </p:nvSpPr>
        <p:spPr>
          <a:xfrm>
            <a:off x="256032" y="54864"/>
            <a:ext cx="914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1.3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234440" y="54864"/>
            <a:ext cx="10698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优势样本分布与研究结论</a:t>
            </a:r>
            <a:endParaRPr lang="en-US" sz="28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256032" y="804672"/>
          <a:ext cx="5989320" cy="58704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6382512" y="804672"/>
            <a:ext cx="5550408" cy="5870448"/>
          </a:xfrm>
          <a:prstGeom prst="rect">
            <a:avLst/>
          </a:prstGeom>
          <a:solidFill>
            <a:srgbClr val="F8FAFC"/>
          </a:solidFill>
          <a:ln w="15240">
            <a:solidFill>
              <a:srgbClr val="4472C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382512" y="804672"/>
            <a:ext cx="5550408" cy="594360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8" name="Text 5"/>
          <p:cNvSpPr/>
          <p:nvPr/>
        </p:nvSpPr>
        <p:spPr>
          <a:xfrm>
            <a:off x="6382512" y="841248"/>
            <a:ext cx="55504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阶段研究成果总结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6565392" y="1508760"/>
            <a:ext cx="5184648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综合精度稳居 SOTA 第一梯队
</a:t>
            </a:r>
            <a:r>
              <a:rPr lang="en-US" sz="17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 M3FD 300 张高难基准上，Ours (LAMF) 达到 </a:t>
            </a:r>
            <a:r>
              <a:rPr lang="en-US" sz="17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41.42% mAP@0.5</a:t>
            </a:r>
            <a:r>
              <a:rPr lang="en-US" sz="17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，相比红外基准提高 </a:t>
            </a:r>
            <a:r>
              <a:rPr lang="en-US" sz="17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个百分点</a:t>
            </a:r>
            <a:r>
              <a:rPr lang="en-US" sz="17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，性能全面超越 MAEFuse 与 SFDFuse。
</a:t>
            </a:r>
            <a:r>
              <a:rPr lang="en-US" sz="17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高危弱势目标（行人与两轮车）全场夺冠
</a:t>
            </a:r>
            <a:r>
              <a:rPr lang="en-US" sz="17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检出行人 </a:t>
            </a:r>
            <a:r>
              <a:rPr lang="en-US" sz="17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587 人 (所有算法第 1 名)</a:t>
            </a:r>
            <a:r>
              <a:rPr lang="en-US" sz="17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，两轮车 AP50 达 </a:t>
            </a:r>
            <a:r>
              <a:rPr lang="en-US" sz="17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27.64% (所有算法第 1 名)</a:t>
            </a:r>
            <a:r>
              <a:rPr lang="en-US" sz="17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，综合召回率达 </a:t>
            </a:r>
            <a:r>
              <a:rPr lang="en-US" sz="17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91.1%</a:t>
            </a:r>
            <a:r>
              <a:rPr lang="en-US" sz="17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，核心安全感知优势显著。
</a:t>
            </a:r>
            <a:r>
              <a:rPr lang="en-US" sz="17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复杂极端工况展现系统性鲁棒性
</a:t>
            </a:r>
            <a:r>
              <a:rPr lang="en-US" sz="17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优势样本覆盖 300 张测试集绝大部分挑战工况，在极暗道路、密集夜市与远距弱目标中展现出</a:t>
            </a:r>
            <a:r>
              <a:rPr lang="en-US" sz="17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行业顶尖的抗漏检实力</a:t>
            </a:r>
            <a:r>
              <a:rPr lang="en-US" sz="17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563</Words>
  <Application>Microsoft Office PowerPoint</Application>
  <PresentationFormat>宽屏</PresentationFormat>
  <Paragraphs>124</Paragraphs>
  <Slides>7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1" baseType="lpstr">
      <vt:lpstr>Microsoft YaHei</vt:lpstr>
      <vt:lpstr>Arial</vt:lpstr>
      <vt:lpstr>Arial Black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涛 黄</cp:lastModifiedBy>
  <cp:revision>5</cp:revision>
  <dcterms:created xsi:type="dcterms:W3CDTF">2026-09-14T07:54:18Z</dcterms:created>
  <dcterms:modified xsi:type="dcterms:W3CDTF">2026-09-14T08:14:17Z</dcterms:modified>
</cp:coreProperties>
</file>